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2CF361-A21C-4832-8BCC-944F1911ABC8}" v="27" dt="2026-05-02T05:51:28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D7853-00A5-427F-9D3B-F5846C95E246}" type="datetimeFigureOut">
              <a:t>01-05-2026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3C92D-9891-4844-9553-B67AEBA403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21792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69264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316736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274320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79792" y="621792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969264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9792" y="1316736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27264" y="274320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27264" y="621792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969264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7264" y="1316736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274320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621792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969264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1316736"/>
            <a:ext cx="109728" cy="109728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55648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414016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072384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30752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in C#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11480" y="23317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 &amp; Maintainable Code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00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 ·  Best Practices  ·  Industry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SOLID?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Design Principles of Object-Oriented Programming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is a set of 5 design principles that help developers write clean, scalable, and maintainable code in 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157276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= One job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169164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691640"/>
            <a:ext cx="1572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121408" y="269748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3383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extend, closed to modify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9896" y="169164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691640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831336" y="269748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3383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replaces parent seamlessly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9824" y="169164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691640"/>
            <a:ext cx="1572768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5541264" y="269748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1264" y="3383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unused method implementations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9752" y="169164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691640"/>
            <a:ext cx="1572768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7251192" y="269748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51192" y="3383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abstraction, not concrete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class should have one, and only one, reason to change"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should have only ONE job or responsibility.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384048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— One class doing too much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7F1D1D"/>
                </a:solidFill>
                <a:ea typeface="+mn-lt"/>
                <a:cs typeface="+mn-lt"/>
              </a:rPr>
              <a:t>OrderManager</a:t>
            </a:r>
            <a:r>
              <a:rPr lang="en-US" sz="1000" dirty="0">
                <a:solidFill>
                  <a:srgbClr val="7F1D1D"/>
                </a:solidFill>
                <a:ea typeface="+mn-lt"/>
                <a:cs typeface="+mn-lt"/>
              </a:rPr>
              <a:t> does: calculate + print + save to DB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3090672"/>
            <a:ext cx="384048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36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— Separate responsibilities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Order / </a:t>
            </a:r>
            <a:r>
              <a:rPr lang="en-US" sz="1000" dirty="0" err="1">
                <a:solidFill>
                  <a:srgbClr val="14532D"/>
                </a:solidFill>
                <a:ea typeface="+mn-lt"/>
                <a:cs typeface="+mn-lt"/>
              </a:rPr>
              <a:t>OrderPrinter</a:t>
            </a:r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 / </a:t>
            </a:r>
            <a:r>
              <a:rPr lang="en-US" sz="1000" dirty="0" err="1">
                <a:solidFill>
                  <a:srgbClr val="14532D"/>
                </a:solidFill>
                <a:ea typeface="+mn-lt"/>
                <a:cs typeface="+mn-lt"/>
              </a:rPr>
              <a:t>OrderRepository</a:t>
            </a:r>
            <a:endParaRPr lang="en-US" dirty="0" err="1"/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434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70432"/>
            <a:ext cx="4123944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class Order</a:t>
            </a:r>
            <a:endParaRPr lang="en-US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public void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CalculatePrice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() { }</a:t>
            </a:r>
            <a:endParaRPr lang="en-US" dirty="0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OrderPrinter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public void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PrintOrder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() { }</a:t>
            </a:r>
            <a:endParaRPr lang="en-US" dirty="0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OrderRepository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public void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SaveOrder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() { }</a:t>
            </a:r>
            <a:endParaRPr lang="en-US" dirty="0">
              <a:ea typeface="+mn-lt"/>
              <a:cs typeface="+mn-lt"/>
            </a:endParaRPr>
          </a:p>
          <a:p>
            <a:pPr marL="0" indent="0"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Easy to Maintain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Less Bugs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for extension, but closed for modification"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behaviour by adding new code — never by editing existing code.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393192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OCP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shape? Edit existing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AreaCalculator switch/if chains!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39319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OCP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shape? Just create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 implementing IShape.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434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70432"/>
            <a:ext cx="41239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IShape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Area();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: IShape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Radius;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Area()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3.14 * Radius * Radius;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 : IShape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W, H;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Area() =&gt; W * H;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Fewer Bugs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"Derived classes must be substitutable for their base class"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should work anywhere the parent class is used — without breaking behaviour.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393192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39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LSP Violation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13432"/>
            <a:ext cx="374904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7F1D1D"/>
                </a:solidFill>
                <a:ea typeface="+mn-lt"/>
                <a:cs typeface="+mn-lt"/>
              </a:rPr>
              <a:t>Bicycle extends Vehicle but throws exception in Drive() — calling code breaks!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3090672"/>
            <a:ext cx="393192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36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LSP Fix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 dirty="0">
                <a:solidFill>
                  <a:srgbClr val="14532D"/>
                </a:solidFill>
                <a:ea typeface="+mn-lt"/>
                <a:cs typeface="+mn-lt"/>
              </a:rPr>
              <a:t>Separate </a:t>
            </a:r>
            <a:r>
              <a:rPr lang="en-US" sz="1000" b="1" dirty="0" err="1">
                <a:solidFill>
                  <a:srgbClr val="14532D"/>
                </a:solidFill>
                <a:ea typeface="+mn-lt"/>
                <a:cs typeface="+mn-lt"/>
              </a:rPr>
              <a:t>IDriveable</a:t>
            </a:r>
            <a:r>
              <a:rPr lang="en-US" sz="1000" b="1" dirty="0">
                <a:solidFill>
                  <a:srgbClr val="14532D"/>
                </a:solidFill>
                <a:ea typeface="+mn-lt"/>
                <a:cs typeface="+mn-lt"/>
              </a:rPr>
              <a:t> interface — only vehicles that can drive implement it.</a:t>
            </a:r>
            <a:endParaRPr lang="en-US" dirty="0"/>
          </a:p>
          <a:p>
            <a:pPr marL="0" indent="0">
              <a:buNone/>
            </a:pPr>
            <a:endParaRPr lang="en-US" sz="1000" dirty="0">
              <a:solidFill>
                <a:srgbClr val="14532D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434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70432"/>
            <a:ext cx="4123944" cy="3337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class Vehicle { 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interface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IDriveable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void Drive();</a:t>
            </a:r>
            <a:endParaRPr lang="en-US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Car : Vehicle,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IDriveable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Drive() { /* drives */ }</a:t>
            </a:r>
            <a:endParaRPr lang="en-US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class Bicycle : Vehicle</a:t>
            </a:r>
            <a:endParaRPr lang="en-US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// No Drive() — no violation!</a:t>
            </a:r>
            <a:endParaRPr lang="en-US">
              <a:ea typeface="+mn-lt"/>
              <a:cs typeface="+mn-lt"/>
            </a:endParaRPr>
          </a:p>
          <a:p>
            <a:pPr marL="0" indent="0"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Reliable Inheritance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4041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Runtime Errors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class should be forced to implement interfaces it doesn't use"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fat interfaces into smaller, focused ones. Clients only implement what they need.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393192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39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Fat Interface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13432"/>
            <a:ext cx="3749040" cy="6035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 dirty="0" err="1">
                <a:solidFill>
                  <a:srgbClr val="7F1D1D"/>
                </a:solidFill>
                <a:ea typeface="+mn-lt"/>
                <a:cs typeface="+mn-lt"/>
              </a:rPr>
              <a:t>IMachine</a:t>
            </a:r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 forces basic printers to implement Fax().</a:t>
            </a:r>
            <a:endParaRPr lang="en-US" b="1" dirty="0">
              <a:ea typeface="+mn-lt"/>
              <a:cs typeface="+mn-lt"/>
            </a:endParaRPr>
          </a:p>
          <a:p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Basic printers don’t support fax — unnecessary method!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000" dirty="0">
              <a:solidFill>
                <a:srgbClr val="7F1D1D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393192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Segregated Interfaces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4532D"/>
                </a:solidFill>
                <a:ea typeface="+mn-lt"/>
                <a:cs typeface="+mn-lt"/>
              </a:rPr>
              <a:t>IPrinter only has Print(). IScanner/IFax are separate — advanced printers implement all, basic printers only IPrinter.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4340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70432"/>
            <a:ext cx="4123944" cy="3520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interface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IPrinter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{ void Print(); }</a:t>
            </a:r>
            <a:endParaRPr lang="en-US" dirty="0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interface IScanner { void Scan(); }</a:t>
            </a:r>
            <a:endParaRPr lang="en-US" dirty="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interface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IFax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{ void Fax(); }</a:t>
            </a:r>
            <a:endParaRPr lang="en-US" dirty="0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BasicPrinter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: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IPrinter</a:t>
            </a:r>
            <a:endParaRPr lang="en-US" dirty="0" err="1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Print() { }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AdvancedPrinter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: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IPrinter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, IScanner,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IFax</a:t>
            </a:r>
            <a:endParaRPr lang="en-US" dirty="0" err="1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Print() { }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Scan() { }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Fax() { }</a:t>
            </a:r>
            <a:endParaRPr lang="en-US">
              <a:ea typeface="+mn-lt"/>
              <a:cs typeface="+mn-lt"/>
            </a:endParaRPr>
          </a:p>
          <a:p>
            <a:pPr marL="0" indent="0"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Clean Interfaces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40690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Dummy Methods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 on abstractions, not on concrete implementations"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modules shouldn't depend on low-level modules. Both should depend on abstractions (interfaces).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39319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Tight Coupling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37490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 dirty="0" err="1">
                <a:solidFill>
                  <a:srgbClr val="7F1D1D"/>
                </a:solidFill>
                <a:ea typeface="+mn-lt"/>
                <a:cs typeface="+mn-lt"/>
              </a:rPr>
              <a:t>PaymentService</a:t>
            </a:r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 directly creates </a:t>
            </a:r>
            <a:r>
              <a:rPr lang="en-US" sz="1000" b="1" dirty="0" err="1">
                <a:solidFill>
                  <a:srgbClr val="7F1D1D"/>
                </a:solidFill>
                <a:ea typeface="+mn-lt"/>
                <a:cs typeface="+mn-lt"/>
              </a:rPr>
              <a:t>CreditCard</a:t>
            </a:r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  <a:p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Switching to UPI or </a:t>
            </a:r>
            <a:r>
              <a:rPr lang="en-US" sz="1000" b="1" dirty="0" err="1">
                <a:solidFill>
                  <a:srgbClr val="7F1D1D"/>
                </a:solidFill>
                <a:ea typeface="+mn-lt"/>
                <a:cs typeface="+mn-lt"/>
              </a:rPr>
              <a:t>DebitCard</a:t>
            </a:r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 means modifying </a:t>
            </a:r>
            <a:r>
              <a:rPr lang="en-US" sz="1000" b="1" dirty="0" err="1">
                <a:solidFill>
                  <a:srgbClr val="7F1D1D"/>
                </a:solidFill>
                <a:ea typeface="+mn-lt"/>
                <a:cs typeface="+mn-lt"/>
              </a:rPr>
              <a:t>PaymentService</a:t>
            </a:r>
            <a:r>
              <a:rPr lang="en-US" sz="1000" b="1" dirty="0">
                <a:solidFill>
                  <a:srgbClr val="7F1D1D"/>
                </a:solidFill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000" dirty="0">
              <a:solidFill>
                <a:srgbClr val="7F1D1D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3127248"/>
            <a:ext cx="39319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72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Via Abstraction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47288"/>
            <a:ext cx="37490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Inject </a:t>
            </a:r>
            <a:r>
              <a:rPr lang="en-US" sz="1000" dirty="0" err="1">
                <a:solidFill>
                  <a:srgbClr val="14532D"/>
                </a:solidFill>
                <a:ea typeface="+mn-lt"/>
                <a:cs typeface="+mn-lt"/>
              </a:rPr>
              <a:t>IPayment</a:t>
            </a:r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 — easily swap </a:t>
            </a:r>
            <a:r>
              <a:rPr lang="en-US" sz="1000" dirty="0" err="1">
                <a:solidFill>
                  <a:srgbClr val="14532D"/>
                </a:solidFill>
                <a:ea typeface="+mn-lt"/>
                <a:cs typeface="+mn-lt"/>
              </a:rPr>
              <a:t>CreditCard</a:t>
            </a:r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, UPI, or </a:t>
            </a:r>
            <a:r>
              <a:rPr lang="en-US" sz="1000" dirty="0" err="1">
                <a:solidFill>
                  <a:srgbClr val="14532D"/>
                </a:solidFill>
                <a:ea typeface="+mn-lt"/>
                <a:cs typeface="+mn-lt"/>
              </a:rPr>
              <a:t>DebitCard</a:t>
            </a:r>
            <a:r>
              <a:rPr lang="en-US" sz="1000" dirty="0">
                <a:solidFill>
                  <a:srgbClr val="14532D"/>
                </a:solidFill>
                <a:ea typeface="+mn-lt"/>
                <a:cs typeface="+mn-lt"/>
              </a:rPr>
              <a:t> without changing business logic.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434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70432"/>
            <a:ext cx="4123944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interface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IPayment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void Pay(double amount);</a:t>
            </a:r>
            <a:endParaRPr lang="en-US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CreditCard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: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IPayment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 public void Pay(double amount)</a:t>
            </a:r>
            <a:endParaRPr lang="en-US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     =&gt;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Console.WriteLine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("Paid using Credit Card: " + amount);</a:t>
            </a:r>
            <a:endParaRPr lang="en-US" dirty="0">
              <a:ea typeface="+mn-lt"/>
              <a:cs typeface="+mn-lt"/>
            </a:endParaRPr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algn="l">
              <a:buNone/>
            </a:pP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class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PaymentService</a:t>
            </a:r>
            <a:endParaRPr lang="en-US" dirty="0" err="1"/>
          </a:p>
          <a:p>
            <a:pPr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private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readonly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IPayment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_payment;</a:t>
            </a:r>
            <a:endParaRPr lang="en-US" dirty="0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public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PaymentService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IPayment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 payment)</a:t>
            </a:r>
            <a:endParaRPr lang="en-US" dirty="0">
              <a:ea typeface="+mn-lt"/>
              <a:cs typeface="+mn-lt"/>
            </a:endParaRPr>
          </a:p>
          <a:p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        =&gt; _payment = payment;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 public void 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MakePayment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(double amt)</a:t>
            </a:r>
            <a:endParaRPr lang="en-US" dirty="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        =&gt; _</a:t>
            </a:r>
            <a:r>
              <a:rPr lang="en-US" sz="950" dirty="0" err="1">
                <a:solidFill>
                  <a:srgbClr val="7DD3FC"/>
                </a:solidFill>
                <a:ea typeface="+mn-lt"/>
                <a:cs typeface="+mn-lt"/>
              </a:rPr>
              <a:t>payment.Pay</a:t>
            </a:r>
            <a:r>
              <a:rPr lang="en-US" sz="950" dirty="0">
                <a:solidFill>
                  <a:srgbClr val="7DD3FC"/>
                </a:solidFill>
                <a:ea typeface="+mn-lt"/>
                <a:cs typeface="+mn-lt"/>
              </a:rPr>
              <a:t>(amt);</a:t>
            </a:r>
            <a:endParaRPr lang="en-US" dirty="0">
              <a:ea typeface="+mn-lt"/>
              <a:cs typeface="+mn-lt"/>
            </a:endParaRPr>
          </a:p>
          <a:p>
            <a:pPr marL="0" indent="0" algn="l">
              <a:buNone/>
            </a:pPr>
            <a:r>
              <a:rPr lang="en-US" sz="950">
                <a:solidFill>
                  <a:srgbClr val="7DD3FC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Flexible 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0690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Easy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572768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38912" y="17099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75688" y="1051560"/>
            <a:ext cx="1572768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09728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48840" y="17099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5616" y="1051560"/>
            <a:ext cx="1572768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09728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58768" y="17099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95544" y="1051560"/>
            <a:ext cx="1572768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109728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568696" y="17099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05472" y="1051560"/>
            <a:ext cx="1572768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09728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78624" y="17099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solidFill>
            <a:srgbClr val="0F25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Maintainability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2743200"/>
            <a:ext cx="1828800" cy="822960"/>
          </a:xfrm>
          <a:prstGeom prst="rect">
            <a:avLst/>
          </a:prstGeom>
          <a:solidFill>
            <a:srgbClr val="0F25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828800" cy="822960"/>
          </a:xfrm>
          <a:prstGeom prst="rect">
            <a:avLst/>
          </a:prstGeom>
          <a:solidFill>
            <a:srgbClr val="0F25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Flexibility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743200"/>
            <a:ext cx="1828800" cy="822960"/>
          </a:xfrm>
          <a:prstGeom prst="rect">
            <a:avLst/>
          </a:prstGeom>
          <a:solidFill>
            <a:srgbClr val="0F25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Testability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SOLID principles make code professional and industry-ready. 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Principles in C#</dc:title>
  <dc:subject>PptxGenJS Presentation</dc:subject>
  <dc:creator>PptxGenJS</dc:creator>
  <cp:lastModifiedBy>PptxGenJS</cp:lastModifiedBy>
  <cp:revision>20</cp:revision>
  <dcterms:created xsi:type="dcterms:W3CDTF">2026-05-01T20:03:45Z</dcterms:created>
  <dcterms:modified xsi:type="dcterms:W3CDTF">2026-05-02T05:51:30Z</dcterms:modified>
</cp:coreProperties>
</file>